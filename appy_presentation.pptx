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Services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B2777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9333EA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Monitoring</c:v>
                  </c:pt>
                  <c:pt idx="1">
                    <c:v>Dev Tools</c:v>
                  </c:pt>
                  <c:pt idx="2">
                    <c:v>Security</c:v>
                  </c:pt>
                  <c:pt idx="3">
                    <c:v>Databases</c:v>
                  </c:pt>
                  <c:pt idx="4">
                    <c:v>Containers</c:v>
                  </c:pt>
                  <c:pt idx="5">
                    <c:v>Media</c:v>
                  </c:pt>
                  <c:pt idx="6">
                    <c:v>AI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</c:v>
                </c:pt>
                <c:pt idx="1">
                  <c:v>8</c:v>
                </c:pt>
                <c:pt idx="2">
                  <c:v>6</c:v>
                </c:pt>
                <c:pt idx="3">
                  <c:v>5</c:v>
                </c:pt>
                <c:pt idx="4">
                  <c:v>5</c:v>
                </c:pt>
                <c:pt idx="5">
                  <c:v>4</c:v>
                </c:pt>
                <c:pt idx="6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7255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9-1.png"/><Relationship Id="rId3" Type="http://schemas.openxmlformats.org/officeDocument/2006/relationships/image" Target="../media/image-9-2.png"/><Relationship Id="rId4" Type="http://schemas.openxmlformats.org/officeDocument/2006/relationships/image" Target="../media/image-9-3.png"/><Relationship Id="rId5" Type="http://schemas.openxmlformats.org/officeDocument/2006/relationships/image" Target="../media/image-9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png"/><Relationship Id="rId13" Type="http://schemas.openxmlformats.org/officeDocument/2006/relationships/image" Target="../media/image-15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6B">
              <a:alpha val="50000"/>
            </a:srgbClr>
          </a:solidFill>
          <a:ln w="12700">
            <a:solidFill>
              <a:srgbClr val="1A2E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A2E6B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0"/>
            <a:ext cx="54864" cy="5143500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731520"/>
            <a:ext cx="1645920" cy="1645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0" y="2651760"/>
            <a:ext cx="73152" cy="73152"/>
          </a:xfrm>
          <a:prstGeom prst="ellipse">
            <a:avLst/>
          </a:prstGeom>
          <a:solidFill>
            <a:srgbClr val="06B6D4">
              <a:alpha val="4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6903720" y="2651760"/>
            <a:ext cx="73152" cy="73152"/>
          </a:xfrm>
          <a:prstGeom prst="ellipse">
            <a:avLst/>
          </a:prstGeom>
          <a:solidFill>
            <a:srgbClr val="06B6D4">
              <a:alpha val="4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7406640" y="2651760"/>
            <a:ext cx="73152" cy="73152"/>
          </a:xfrm>
          <a:prstGeom prst="ellipse">
            <a:avLst/>
          </a:prstGeom>
          <a:solidFill>
            <a:srgbClr val="06B6D4">
              <a:alpha val="4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6400800" y="3063240"/>
            <a:ext cx="73152" cy="73152"/>
          </a:xfrm>
          <a:prstGeom prst="ellipse">
            <a:avLst/>
          </a:prstGeom>
          <a:solidFill>
            <a:srgbClr val="06B6D4">
              <a:alpha val="4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6903720" y="3063240"/>
            <a:ext cx="73152" cy="73152"/>
          </a:xfrm>
          <a:prstGeom prst="ellipse">
            <a:avLst/>
          </a:prstGeom>
          <a:solidFill>
            <a:srgbClr val="06B6D4">
              <a:alpha val="4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7406640" y="3063240"/>
            <a:ext cx="73152" cy="73152"/>
          </a:xfrm>
          <a:prstGeom prst="ellipse">
            <a:avLst/>
          </a:prstGeom>
          <a:solidFill>
            <a:srgbClr val="06B6D4">
              <a:alpha val="4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6400800" y="3474720"/>
            <a:ext cx="73152" cy="73152"/>
          </a:xfrm>
          <a:prstGeom prst="ellipse">
            <a:avLst/>
          </a:prstGeom>
          <a:solidFill>
            <a:srgbClr val="06B6D4">
              <a:alpha val="4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6903720" y="3474720"/>
            <a:ext cx="73152" cy="73152"/>
          </a:xfrm>
          <a:prstGeom prst="ellipse">
            <a:avLst/>
          </a:prstGeom>
          <a:solidFill>
            <a:srgbClr val="06B6D4">
              <a:alpha val="4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7406640" y="3474720"/>
            <a:ext cx="73152" cy="73152"/>
          </a:xfrm>
          <a:prstGeom prst="ellipse">
            <a:avLst/>
          </a:prstGeom>
          <a:solidFill>
            <a:srgbClr val="06B6D4">
              <a:alpha val="4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6400800" y="3886200"/>
            <a:ext cx="73152" cy="73152"/>
          </a:xfrm>
          <a:prstGeom prst="ellipse">
            <a:avLst/>
          </a:prstGeom>
          <a:solidFill>
            <a:srgbClr val="06B6D4">
              <a:alpha val="40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6903720" y="3886200"/>
            <a:ext cx="73152" cy="73152"/>
          </a:xfrm>
          <a:prstGeom prst="ellipse">
            <a:avLst/>
          </a:prstGeom>
          <a:solidFill>
            <a:srgbClr val="06B6D4">
              <a:alpha val="40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7406640" y="3886200"/>
            <a:ext cx="73152" cy="73152"/>
          </a:xfrm>
          <a:prstGeom prst="ellipse">
            <a:avLst/>
          </a:prstGeom>
          <a:solidFill>
            <a:srgbClr val="06B6D4">
              <a:alpha val="40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6400800" y="4297680"/>
            <a:ext cx="73152" cy="73152"/>
          </a:xfrm>
          <a:prstGeom prst="ellipse">
            <a:avLst/>
          </a:prstGeom>
          <a:solidFill>
            <a:srgbClr val="06B6D4">
              <a:alpha val="40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6903720" y="4297680"/>
            <a:ext cx="73152" cy="73152"/>
          </a:xfrm>
          <a:prstGeom prst="ellipse">
            <a:avLst/>
          </a:prstGeom>
          <a:solidFill>
            <a:srgbClr val="06B6D4">
              <a:alpha val="40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7406640" y="4297680"/>
            <a:ext cx="73152" cy="73152"/>
          </a:xfrm>
          <a:prstGeom prst="ellipse">
            <a:avLst/>
          </a:prstGeom>
          <a:solidFill>
            <a:srgbClr val="06B6D4">
              <a:alpha val="40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502920" y="640080"/>
            <a:ext cx="2011680" cy="274320"/>
          </a:xfrm>
          <a:prstGeom prst="roundRect">
            <a:avLst>
              <a:gd name="adj" fmla="val 23333"/>
            </a:avLst>
          </a:prstGeom>
          <a:solidFill>
            <a:srgbClr val="2563EB"/>
          </a:solidFill>
          <a:ln/>
        </p:spPr>
      </p:sp>
      <p:sp>
        <p:nvSpPr>
          <p:cNvPr id="22" name="Text 19"/>
          <p:cNvSpPr/>
          <p:nvPr/>
        </p:nvSpPr>
        <p:spPr>
          <a:xfrm>
            <a:off x="502920" y="640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SYSTEM AUTOMATION TOOL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02920" y="100584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appy.sh</a:t>
            </a:r>
            <a:endParaRPr lang="en-US" sz="6400" dirty="0"/>
          </a:p>
        </p:txBody>
      </p:sp>
      <p:sp>
        <p:nvSpPr>
          <p:cNvPr id="24" name="Text 21"/>
          <p:cNvSpPr/>
          <p:nvPr/>
        </p:nvSpPr>
        <p:spPr>
          <a:xfrm>
            <a:off x="502920" y="224028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CBD5E1"/>
                </a:solidFill>
              </a:rPr>
              <a:t>Service Installer, Watchdog Daemon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CBD5E1"/>
                </a:solidFill>
              </a:rPr>
              <a:t>&amp; System Manager for Arch Linux / CachyOS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502920" y="3383280"/>
            <a:ext cx="1371600" cy="777240"/>
          </a:xfrm>
          <a:prstGeom prst="rect">
            <a:avLst/>
          </a:prstGeom>
          <a:solidFill>
            <a:srgbClr val="1725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02920" y="3383280"/>
            <a:ext cx="13716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7" name="Text 24"/>
          <p:cNvSpPr/>
          <p:nvPr/>
        </p:nvSpPr>
        <p:spPr>
          <a:xfrm>
            <a:off x="502920" y="345643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B6D4"/>
                </a:solidFill>
              </a:rPr>
              <a:t>39</a:t>
            </a:r>
            <a:endParaRPr lang="en-US" sz="2600" dirty="0"/>
          </a:p>
        </p:txBody>
      </p:sp>
      <p:sp>
        <p:nvSpPr>
          <p:cNvPr id="28" name="Text 25"/>
          <p:cNvSpPr/>
          <p:nvPr/>
        </p:nvSpPr>
        <p:spPr>
          <a:xfrm>
            <a:off x="502920" y="38404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Services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2103120" y="3383280"/>
            <a:ext cx="1371600" cy="777240"/>
          </a:xfrm>
          <a:prstGeom prst="rect">
            <a:avLst/>
          </a:prstGeom>
          <a:solidFill>
            <a:srgbClr val="1725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2103120" y="3383280"/>
            <a:ext cx="13716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1" name="Text 28"/>
          <p:cNvSpPr/>
          <p:nvPr/>
        </p:nvSpPr>
        <p:spPr>
          <a:xfrm>
            <a:off x="2103120" y="345643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B6D4"/>
                </a:solidFill>
              </a:rPr>
              <a:t>7</a:t>
            </a:r>
            <a:endParaRPr lang="en-US" sz="2600" dirty="0"/>
          </a:p>
        </p:txBody>
      </p:sp>
      <p:sp>
        <p:nvSpPr>
          <p:cNvPr id="32" name="Text 29"/>
          <p:cNvSpPr/>
          <p:nvPr/>
        </p:nvSpPr>
        <p:spPr>
          <a:xfrm>
            <a:off x="2103120" y="38404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Categories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3703320" y="3383280"/>
            <a:ext cx="1371600" cy="777240"/>
          </a:xfrm>
          <a:prstGeom prst="rect">
            <a:avLst/>
          </a:prstGeom>
          <a:solidFill>
            <a:srgbClr val="1725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3703320" y="3383280"/>
            <a:ext cx="13716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5" name="Text 32"/>
          <p:cNvSpPr/>
          <p:nvPr/>
        </p:nvSpPr>
        <p:spPr>
          <a:xfrm>
            <a:off x="3703320" y="345643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B6D4"/>
                </a:solidFill>
              </a:rPr>
              <a:t>3.1</a:t>
            </a:r>
            <a:endParaRPr lang="en-US" sz="2600" dirty="0"/>
          </a:p>
        </p:txBody>
      </p:sp>
      <p:sp>
        <p:nvSpPr>
          <p:cNvPr id="36" name="Text 33"/>
          <p:cNvSpPr/>
          <p:nvPr/>
        </p:nvSpPr>
        <p:spPr>
          <a:xfrm>
            <a:off x="3703320" y="38404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Version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02920" y="4663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github.com/malhiamitojsingh/appy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011680" cy="274320"/>
          </a:xfrm>
          <a:prstGeom prst="roundRect">
            <a:avLst>
              <a:gd name="adj" fmla="val 23333"/>
            </a:avLst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Self-Hosting is Unnecessarily Hard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</a:rPr>
              <a:t>Setting up production-grade services on a personal Linux server requires deep expertise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</a:rPr>
              <a:t>across dozens of tools — creating a massive barrier for individuals and small teams.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057400"/>
            <a:ext cx="64008" cy="114300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2359152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70432" y="21762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Complex Setup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70432" y="25146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Installing &amp; configuring 39 services manually requires hours of reading docs, debugging, and running countless commands.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800600" y="205740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00600" y="2057400"/>
            <a:ext cx="64008" cy="11430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2359152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13832" y="21762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No Autostart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513832" y="25146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Services installed manually don't persist across reboots without manually writing systemd units.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57200" y="338328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" y="3383280"/>
            <a:ext cx="64008" cy="114300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685032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70432" y="35021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Inconsistent Detection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170432" y="38404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Package managers, Docker, and curl-installed tools each need different checks — no unified view.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800600" y="338328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800600" y="3383280"/>
            <a:ext cx="64008" cy="1143000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3685032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13832" y="35021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Cloud Lock-in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513832" y="38404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Cloud providers charge recurring fees and harvest your data. Self-hosting alternatives require expertise most users lack.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6B">
              <a:alpha val="50000"/>
            </a:srgbClr>
          </a:solidFill>
          <a:ln w="12700">
            <a:solidFill>
              <a:srgbClr val="1A2E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2011680" cy="274320"/>
          </a:xfrm>
          <a:prstGeom prst="roundRect">
            <a:avLst>
              <a:gd name="adj" fmla="val 23333"/>
            </a:avLst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SOLUTION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appy.sh?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</a:rPr>
              <a:t>A single Bash script that turns a raw Arch Linux / CachyOS machine into a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</a:rPr>
              <a:t>fully configured server — in minutes, not hours.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2651760" cy="2651760"/>
          </a:xfrm>
          <a:prstGeom prst="rect">
            <a:avLst/>
          </a:prstGeom>
          <a:solidFill>
            <a:srgbClr val="1725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965960"/>
            <a:ext cx="64008" cy="265176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14884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66928" y="278892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One Command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66928" y="3200400"/>
            <a:ext cx="24323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Run 'sudo bash appy.sh'. An interactive TUI appears instantly — no flags, no config files, no docs to read first.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55848" y="1965960"/>
            <a:ext cx="2651760" cy="2651760"/>
          </a:xfrm>
          <a:prstGeom prst="rect">
            <a:avLst/>
          </a:prstGeom>
          <a:solidFill>
            <a:srgbClr val="1725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55848" y="1965960"/>
            <a:ext cx="64008" cy="265176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448" y="214884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65576" y="278892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Smart Detection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465576" y="3200400"/>
            <a:ext cx="24323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Detects already-installed services across pacman, AUR, Docker, and curl installations. Never installs twice.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254496" y="1965960"/>
            <a:ext cx="2651760" cy="2651760"/>
          </a:xfrm>
          <a:prstGeom prst="rect">
            <a:avLst/>
          </a:prstGeom>
          <a:solidFill>
            <a:srgbClr val="1725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254496" y="1965960"/>
            <a:ext cx="64008" cy="2651760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096" y="214884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64224" y="278892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Full Lifecycle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364224" y="3200400"/>
            <a:ext cx="24323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Install → Enable → Monitor → Auto-restart → Update → Backup → Remove. The entire service lifecycle from one tool.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MIT Licensed  •  No cloud dependency  •  No telemetry  •  CachyOS / Arch native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2011680" cy="274320"/>
          </a:xfrm>
          <a:prstGeom prst="roundRect">
            <a:avLst>
              <a:gd name="adj" fmla="val 23333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appy.sh Works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1417320" cy="1097280"/>
          </a:xfrm>
          <a:prstGeom prst="rect">
            <a:avLst/>
          </a:prstGeom>
          <a:solidFill>
            <a:srgbClr val="0F1F4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4173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User Input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8288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BEAFE"/>
                </a:solidFill>
              </a:rPr>
              <a:t>Interactive TUI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BEAFE"/>
                </a:solidFill>
              </a:rPr>
              <a:t>or CLI flags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9072" y="1709928"/>
            <a:ext cx="256032" cy="25603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993392" y="1325880"/>
            <a:ext cx="1417320" cy="1097280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993392" y="14173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Dispatcher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993392" y="18288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BEAFE"/>
                </a:solidFill>
              </a:rPr>
              <a:t>do_install()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BEAFE"/>
                </a:solidFill>
              </a:rPr>
              <a:t>routes by type</a:t>
            </a:r>
            <a:endParaRPr lang="en-US" sz="9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8144" y="1709928"/>
            <a:ext cx="256032" cy="25603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712464" y="1325880"/>
            <a:ext cx="1417320" cy="1097280"/>
          </a:xfrm>
          <a:prstGeom prst="rect">
            <a:avLst/>
          </a:prstGeom>
          <a:solidFill>
            <a:srgbClr val="06B6D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3712464" y="14173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Installer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712464" y="18288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BEAFE"/>
                </a:solidFill>
              </a:rPr>
              <a:t>pacman / yay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BEAFE"/>
                </a:solidFill>
              </a:rPr>
              <a:t>curl / docker</a:t>
            </a:r>
            <a:endParaRPr lang="en-US" sz="9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7216" y="1709928"/>
            <a:ext cx="256032" cy="256032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5431536" y="1325880"/>
            <a:ext cx="1417320" cy="109728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5431536" y="14173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Systemd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431536" y="18288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BEAFE"/>
                </a:solidFill>
              </a:rPr>
              <a:t>enable --now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BEAFE"/>
                </a:solidFill>
              </a:rPr>
              <a:t>unit creation</a:t>
            </a:r>
            <a:endParaRPr lang="en-US" sz="9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6288" y="1709928"/>
            <a:ext cx="256032" cy="256032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7150608" y="1325880"/>
            <a:ext cx="1417320" cy="1097280"/>
          </a:xfrm>
          <a:prstGeom prst="rect">
            <a:avLst/>
          </a:prstGeom>
          <a:solidFill>
            <a:srgbClr val="8B5CF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7150608" y="14173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Watchdog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7150608" y="18288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BEAFE"/>
                </a:solidFill>
              </a:rPr>
              <a:t>monitor loop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BEAFE"/>
                </a:solidFill>
              </a:rPr>
              <a:t>auto-restart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Core Subsystems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457200" y="3063240"/>
            <a:ext cx="41148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7200" y="3063240"/>
            <a:ext cx="64008" cy="8046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7" name="Text 21"/>
          <p:cNvSpPr/>
          <p:nvPr/>
        </p:nvSpPr>
        <p:spPr>
          <a:xfrm>
            <a:off x="640080" y="31181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_prefetch_install_status()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640080" y="341071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Batches all service detection at startup — pacman -Qi, docker inspect, binary checks, compose file presence — so the TUI renders instantly.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4800600" y="3063240"/>
            <a:ext cx="41148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800600" y="3063240"/>
            <a:ext cx="64008" cy="8046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1" name="Text 25"/>
          <p:cNvSpPr/>
          <p:nvPr/>
        </p:nvSpPr>
        <p:spPr>
          <a:xfrm>
            <a:off x="4983480" y="31181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ensure_docker_running()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4983480" y="341071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Guards all Docker-based installs. Starts daemon, waits up to 15s for socket readiness, auto-installs Docker itself if missing.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457200" y="3931920"/>
            <a:ext cx="41148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457200" y="3931920"/>
            <a:ext cx="64008" cy="8046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5" name="Text 29"/>
          <p:cNvSpPr/>
          <p:nvPr/>
        </p:nvSpPr>
        <p:spPr>
          <a:xfrm>
            <a:off x="640080" y="39867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_wait_for_port()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640080" y="427939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TCP probe loop that waits up to N seconds for a service port to accept connections — used by Immich to confirm readiness before showing the URL.</a:t>
            </a:r>
            <a:endParaRPr lang="en-US" sz="950" dirty="0"/>
          </a:p>
        </p:txBody>
      </p:sp>
      <p:sp>
        <p:nvSpPr>
          <p:cNvPr id="37" name="Shape 31"/>
          <p:cNvSpPr/>
          <p:nvPr/>
        </p:nvSpPr>
        <p:spPr>
          <a:xfrm>
            <a:off x="4800600" y="3931920"/>
            <a:ext cx="41148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4800600" y="3931920"/>
            <a:ext cx="64008" cy="8046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9" name="Text 33"/>
          <p:cNvSpPr/>
          <p:nvPr/>
        </p:nvSpPr>
        <p:spPr>
          <a:xfrm>
            <a:off x="4983480" y="39867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run_daemon (watchdog)</a:t>
            </a:r>
            <a:endParaRPr lang="en-US" sz="1000" dirty="0"/>
          </a:p>
        </p:txBody>
      </p:sp>
      <p:sp>
        <p:nvSpPr>
          <p:cNvPr id="40" name="Text 34"/>
          <p:cNvSpPr/>
          <p:nvPr/>
        </p:nvSpPr>
        <p:spPr>
          <a:xfrm>
            <a:off x="4983480" y="427939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Infinite loop checking all enabled systemd services every 5 min, alerts on disk &gt;90% / RAM &gt;95%, rotates logs at 10 MB.</a:t>
            </a:r>
            <a:endParaRPr lang="en-US" sz="950" dirty="0"/>
          </a:p>
        </p:txBody>
      </p:sp>
      <p:sp>
        <p:nvSpPr>
          <p:cNvPr id="41" name="Text 35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6B">
              <a:alpha val="50000"/>
            </a:srgbClr>
          </a:solidFill>
          <a:ln w="12700">
            <a:solidFill>
              <a:srgbClr val="1A2E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2011680" cy="274320"/>
          </a:xfrm>
          <a:prstGeom prst="roundRect">
            <a:avLst>
              <a:gd name="adj" fmla="val 23333"/>
            </a:avLst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SERVICE CATALOGUE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39 Services Across 7 Categories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114800" cy="777240"/>
          </a:xfrm>
          <a:prstGeom prst="rect">
            <a:avLst/>
          </a:prstGeom>
          <a:solidFill>
            <a:srgbClr val="1725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64008" cy="77724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17320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30759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Containers &amp; Web  (5)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51560" y="1645920"/>
            <a:ext cx="3337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Docker · Compose · Nginx · Caddy · Portainer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800600" y="1234440"/>
            <a:ext cx="4114800" cy="777240"/>
          </a:xfrm>
          <a:prstGeom prst="rect">
            <a:avLst/>
          </a:prstGeom>
          <a:solidFill>
            <a:srgbClr val="1725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00600" y="1234440"/>
            <a:ext cx="64008" cy="777240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1417320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94960" y="130759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Databases  (5)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394960" y="1645920"/>
            <a:ext cx="3337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MariaDB · PostgreSQL · Redis · SQLite · MongoDB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57200" y="2130552"/>
            <a:ext cx="4114800" cy="777240"/>
          </a:xfrm>
          <a:prstGeom prst="rect">
            <a:avLst/>
          </a:prstGeom>
          <a:solidFill>
            <a:srgbClr val="1725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" y="2130552"/>
            <a:ext cx="64008" cy="777240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313432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51560" y="220370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Security &amp; Network  (6)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051560" y="2542032"/>
            <a:ext cx="3337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Fail2ban · UFW · WireGuard · Tailscale · Vaultwarden · CrowdSec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4800600" y="2130552"/>
            <a:ext cx="4114800" cy="777240"/>
          </a:xfrm>
          <a:prstGeom prst="rect">
            <a:avLst/>
          </a:prstGeom>
          <a:solidFill>
            <a:srgbClr val="1725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800600" y="2130552"/>
            <a:ext cx="64008" cy="777240"/>
          </a:xfrm>
          <a:prstGeom prst="rect">
            <a:avLst/>
          </a:prstGeom>
          <a:solidFill>
            <a:srgbClr val="DB2777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2313432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394960" y="220370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Media &amp; Files  (4)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394960" y="2542032"/>
            <a:ext cx="3337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Jellyfin · Immich · Samba · Syncthing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457200" y="3026664"/>
            <a:ext cx="4114800" cy="777240"/>
          </a:xfrm>
          <a:prstGeom prst="rect">
            <a:avLst/>
          </a:prstGeom>
          <a:solidFill>
            <a:srgbClr val="1725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57200" y="3026664"/>
            <a:ext cx="64008" cy="77724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209544"/>
            <a:ext cx="384048" cy="38404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051560" y="309981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Monitoring  (8)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1051560" y="3438144"/>
            <a:ext cx="3337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btop · htop · Netdata · Prometheus · Grafana · Uptime Kuma · Cockpit · Loki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4800600" y="3026664"/>
            <a:ext cx="4114800" cy="777240"/>
          </a:xfrm>
          <a:prstGeom prst="rect">
            <a:avLst/>
          </a:prstGeom>
          <a:solidFill>
            <a:srgbClr val="1725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4800600" y="3026664"/>
            <a:ext cx="64008" cy="77724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328" y="3209544"/>
            <a:ext cx="384048" cy="38404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394960" y="309981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Development  (8)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5394960" y="3438144"/>
            <a:ext cx="3337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Git · Neovim · Zsh · Node · Python · Go · Rust · Buildx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2743200" y="3922776"/>
            <a:ext cx="3657600" cy="777240"/>
          </a:xfrm>
          <a:prstGeom prst="rect">
            <a:avLst/>
          </a:prstGeom>
          <a:solidFill>
            <a:srgbClr val="1725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2743200" y="3922776"/>
            <a:ext cx="64008" cy="777240"/>
          </a:xfrm>
          <a:prstGeom prst="rect">
            <a:avLst/>
          </a:prstGeom>
          <a:solidFill>
            <a:srgbClr val="9333EA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2928" y="4105656"/>
            <a:ext cx="384048" cy="384048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3337560" y="39959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&amp; Other  (4)</a:t>
            </a:r>
            <a:endParaRPr lang="en-US" sz="1200" dirty="0"/>
          </a:p>
        </p:txBody>
      </p:sp>
      <p:sp>
        <p:nvSpPr>
          <p:cNvPr id="40" name="Text 31"/>
          <p:cNvSpPr/>
          <p:nvPr/>
        </p:nvSpPr>
        <p:spPr>
          <a:xfrm>
            <a:off x="3337560" y="4334256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Ollama · Pi-hole · Timeshift · Restic</a:t>
            </a:r>
            <a:endParaRPr lang="en-US" sz="900" dirty="0"/>
          </a:p>
        </p:txBody>
      </p:sp>
      <p:sp>
        <p:nvSpPr>
          <p:cNvPr id="41" name="Text 32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2011680" cy="274320"/>
          </a:xfrm>
          <a:prstGeom prst="roundRect">
            <a:avLst>
              <a:gd name="adj" fmla="val 23333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KEY FEATURES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Makes appy.sh Different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11480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64008" cy="1078992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9105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37160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Zero-Config TUI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43000" y="173736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Launches a grouped menu with live install status indicators (✓/·). Select by number or range — no command memorization needed.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800600" y="1280160"/>
            <a:ext cx="411480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00600" y="1280160"/>
            <a:ext cx="64008" cy="1078992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591056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137160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Watchdog Daemon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486400" y="173736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Install via M→7. Monitors all enabled services every 5 min, auto-restarts failures, and sends alerts when disk &gt;90% or RAM &gt;95%.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57200" y="2487168"/>
            <a:ext cx="411480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7200" y="2487168"/>
            <a:ext cx="64008" cy="1078992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798064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43000" y="257860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Autostart Manager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43000" y="294436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M→14: toggle systemd enable/disable or Docker restart=always for any installed service. Survives every reboot automatically.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800600" y="2487168"/>
            <a:ext cx="411480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00600" y="2487168"/>
            <a:ext cx="64008" cy="1078992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798064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86400" y="257860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Health Dashboard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486400" y="294436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Full-screen color-coded report: CPU/RAM/disk bars, load averages, all service statuses, Docker container states, and pending updates.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57200" y="3694176"/>
            <a:ext cx="411480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7200" y="3694176"/>
            <a:ext cx="64008" cy="1078992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005072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143000" y="378561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Auto-Update Scheduler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1143000" y="4151376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M→11: schedule daily or weekly updates via systemd timer. Runs pacman -Syu, yay -Syu, and pulls fresh Docker images — unattended.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4800600" y="3694176"/>
            <a:ext cx="411480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800600" y="3694176"/>
            <a:ext cx="64008" cy="1078992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4005072"/>
            <a:ext cx="384048" cy="38404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486400" y="378561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Credential Vault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5486400" y="4151376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All generated DB passwords, admin tokens, and API keys are saved to ~/appy-credentials.txt (chmod 600) — never displayed on screen.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6B">
              <a:alpha val="50000"/>
            </a:srgbClr>
          </a:solidFill>
          <a:ln w="12700">
            <a:solidFill>
              <a:srgbClr val="1A2E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2011680" cy="274320"/>
          </a:xfrm>
          <a:prstGeom prst="roundRect">
            <a:avLst>
              <a:gd name="adj" fmla="val 23333"/>
            </a:avLst>
          </a:prstGeom>
          <a:solidFill>
            <a:srgbClr val="DB277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SPOTLIGHT: IMMICH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Official Immich Quickstart Integration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BD5E1"/>
                </a:solidFill>
              </a:rPr>
              <a:t>Immich is a self-hosted Google Photos alternative with AI-powered face recognition,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BD5E1"/>
                </a:solidFill>
              </a:rPr>
              <a:t>object detection, and smart albums. appy.sh installs it using the official method.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2651760" cy="868680"/>
          </a:xfrm>
          <a:prstGeom prst="rect">
            <a:avLst/>
          </a:prstGeom>
          <a:solidFill>
            <a:srgbClr val="1725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920240"/>
            <a:ext cx="64008" cy="868680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2176272"/>
            <a:ext cx="347472" cy="347472"/>
          </a:xfrm>
          <a:prstGeom prst="ellipse">
            <a:avLst/>
          </a:prstGeom>
          <a:solidFill>
            <a:srgbClr val="DB2777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2176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24128" y="201168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Detect Compose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24128" y="2322576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BD5E1"/>
                </a:solidFill>
              </a:rPr>
              <a:t>Finds 'docker compose' plugin first, falls back to legacy docker-compose binary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55848" y="1920240"/>
            <a:ext cx="2651760" cy="868680"/>
          </a:xfrm>
          <a:prstGeom prst="rect">
            <a:avLst/>
          </a:prstGeom>
          <a:solidFill>
            <a:srgbClr val="1725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55848" y="1920240"/>
            <a:ext cx="64008" cy="868680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15" name="Shape 13"/>
          <p:cNvSpPr/>
          <p:nvPr/>
        </p:nvSpPr>
        <p:spPr>
          <a:xfrm>
            <a:off x="3465576" y="2176272"/>
            <a:ext cx="347472" cy="347472"/>
          </a:xfrm>
          <a:prstGeom prst="ellipse">
            <a:avLst/>
          </a:prstGeom>
          <a:solidFill>
            <a:srgbClr val="DB2777"/>
          </a:solidFill>
          <a:ln/>
        </p:spPr>
      </p:sp>
      <p:sp>
        <p:nvSpPr>
          <p:cNvPr id="16" name="Text 14"/>
          <p:cNvSpPr/>
          <p:nvPr/>
        </p:nvSpPr>
        <p:spPr>
          <a:xfrm>
            <a:off x="3465576" y="2176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922776" y="201168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Download Files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22776" y="2322576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BD5E1"/>
                </a:solidFill>
              </a:rPr>
              <a:t>curl from GitHub Releases: official docker-compose.yml + example.env (always latest)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54496" y="1920240"/>
            <a:ext cx="2651760" cy="868680"/>
          </a:xfrm>
          <a:prstGeom prst="rect">
            <a:avLst/>
          </a:prstGeom>
          <a:solidFill>
            <a:srgbClr val="1725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54496" y="1920240"/>
            <a:ext cx="64008" cy="868680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21" name="Shape 19"/>
          <p:cNvSpPr/>
          <p:nvPr/>
        </p:nvSpPr>
        <p:spPr>
          <a:xfrm>
            <a:off x="6364224" y="2176272"/>
            <a:ext cx="347472" cy="347472"/>
          </a:xfrm>
          <a:prstGeom prst="ellipse">
            <a:avLst/>
          </a:prstGeom>
          <a:solidFill>
            <a:srgbClr val="DB2777"/>
          </a:solidFill>
          <a:ln/>
        </p:spPr>
      </p:sp>
      <p:sp>
        <p:nvSpPr>
          <p:cNvPr id="22" name="Text 20"/>
          <p:cNvSpPr/>
          <p:nvPr/>
        </p:nvSpPr>
        <p:spPr>
          <a:xfrm>
            <a:off x="6364224" y="2176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21424" y="201168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Patch .env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21424" y="2322576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BD5E1"/>
                </a:solidFill>
              </a:rPr>
              <a:t>Injects upload path, DB_DATA_LOCATION, and a generated 24-char DB password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3063240"/>
            <a:ext cx="2651760" cy="868680"/>
          </a:xfrm>
          <a:prstGeom prst="rect">
            <a:avLst/>
          </a:prstGeom>
          <a:solidFill>
            <a:srgbClr val="1725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063240"/>
            <a:ext cx="64008" cy="868680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27" name="Shape 25"/>
          <p:cNvSpPr/>
          <p:nvPr/>
        </p:nvSpPr>
        <p:spPr>
          <a:xfrm>
            <a:off x="566928" y="3319272"/>
            <a:ext cx="347472" cy="347472"/>
          </a:xfrm>
          <a:prstGeom prst="ellipse">
            <a:avLst/>
          </a:prstGeom>
          <a:solidFill>
            <a:srgbClr val="DB2777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3319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24128" y="315468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Pull Images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24128" y="3465576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BD5E1"/>
                </a:solidFill>
              </a:rPr>
              <a:t>immich-server, machine-learning, postgresql, redis — first pull takes 5-15 min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355848" y="3063240"/>
            <a:ext cx="2651760" cy="868680"/>
          </a:xfrm>
          <a:prstGeom prst="rect">
            <a:avLst/>
          </a:prstGeom>
          <a:solidFill>
            <a:srgbClr val="1725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355848" y="3063240"/>
            <a:ext cx="64008" cy="868680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33" name="Shape 31"/>
          <p:cNvSpPr/>
          <p:nvPr/>
        </p:nvSpPr>
        <p:spPr>
          <a:xfrm>
            <a:off x="3465576" y="3319272"/>
            <a:ext cx="347472" cy="347472"/>
          </a:xfrm>
          <a:prstGeom prst="ellipse">
            <a:avLst/>
          </a:prstGeom>
          <a:solidFill>
            <a:srgbClr val="DB2777"/>
          </a:solidFill>
          <a:ln/>
        </p:spPr>
      </p:sp>
      <p:sp>
        <p:nvSpPr>
          <p:cNvPr id="34" name="Text 32"/>
          <p:cNvSpPr/>
          <p:nvPr/>
        </p:nvSpPr>
        <p:spPr>
          <a:xfrm>
            <a:off x="3465576" y="3319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922776" y="315468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Start Stack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922776" y="3465576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BD5E1"/>
                </a:solidFill>
              </a:rPr>
              <a:t>docker compose up -d — then waits (TCP probe) until port 2283 is live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254496" y="3063240"/>
            <a:ext cx="2651760" cy="868680"/>
          </a:xfrm>
          <a:prstGeom prst="rect">
            <a:avLst/>
          </a:prstGeom>
          <a:solidFill>
            <a:srgbClr val="1725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254496" y="3063240"/>
            <a:ext cx="64008" cy="868680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39" name="Shape 37"/>
          <p:cNvSpPr/>
          <p:nvPr/>
        </p:nvSpPr>
        <p:spPr>
          <a:xfrm>
            <a:off x="6364224" y="3319272"/>
            <a:ext cx="347472" cy="347472"/>
          </a:xfrm>
          <a:prstGeom prst="ellipse">
            <a:avLst/>
          </a:prstGeom>
          <a:solidFill>
            <a:srgbClr val="DB2777"/>
          </a:solidFill>
          <a:ln/>
        </p:spPr>
      </p:sp>
      <p:sp>
        <p:nvSpPr>
          <p:cNvPr id="40" name="Text 38"/>
          <p:cNvSpPr/>
          <p:nvPr/>
        </p:nvSpPr>
        <p:spPr>
          <a:xfrm>
            <a:off x="6364224" y="3319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821424" y="315468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Systemd Unit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821424" y="3465576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BD5E1"/>
                </a:solidFill>
              </a:rPr>
              <a:t>Creates /etc/systemd/system/immich.service — auto-starts on every reboot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" y="4041648"/>
            <a:ext cx="8229600" cy="841248"/>
          </a:xfrm>
          <a:prstGeom prst="rect">
            <a:avLst/>
          </a:prstGeom>
          <a:solidFill>
            <a:srgbClr val="1725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4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178808"/>
            <a:ext cx="457200" cy="457200"/>
          </a:xfrm>
          <a:prstGeom prst="rect">
            <a:avLst/>
          </a:prstGeom>
        </p:spPr>
      </p:pic>
      <p:sp>
        <p:nvSpPr>
          <p:cNvPr id="45" name="Text 42"/>
          <p:cNvSpPr/>
          <p:nvPr/>
        </p:nvSpPr>
        <p:spPr>
          <a:xfrm>
            <a:off x="1188720" y="4133088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CBD5E1"/>
                </a:solidFill>
              </a:rPr>
              <a:t>After install: open http://localhost:2283 or http://&lt;your-LAN-IP&gt;:2283 in browser. appy waits for port 2283 to respond before showing the URL, so clicking it actually works. Credentials saved to ~/appy-credentials.txt.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2011680" cy="274320"/>
          </a:xfrm>
          <a:prstGeom prst="roundRect">
            <a:avLst>
              <a:gd name="adj" fmla="val 23333"/>
            </a:avLst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SECURITY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Security-First Design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8463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64008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41732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Credential Management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1691640"/>
            <a:ext cx="4480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Passwords &amp; tokens generated with openssl rand -base64 and written only to ~/appy-credentials.txt (chmod 600, never printed to terminal).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039112"/>
            <a:ext cx="48463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039112"/>
            <a:ext cx="64008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13055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UFW Firewall Auto-Config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2404872"/>
            <a:ext cx="4480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On install: deny all inbound, allow outgoing, allow SSH. Port-specific allow rules are shown in the info card after each service install.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752344"/>
            <a:ext cx="48463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752344"/>
            <a:ext cx="64008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8437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Fail2ban Auto-Enable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" y="3118104"/>
            <a:ext cx="4480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SSH jail activated immediately after install. Blocks IPs after repeated login failures. Can add nginx, apache jails via jail.local.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465576"/>
            <a:ext cx="48463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465576"/>
            <a:ext cx="64008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355701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Docker Least-Privilege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" y="3831336"/>
            <a:ext cx="4480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Vaultwarden bound to 127.0.0.1 only. Portainer uses Docker socket with named volume isolation. No host-network mode used.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4178808"/>
            <a:ext cx="48463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4178808"/>
            <a:ext cx="64008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" y="427024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appy-daemon Hardening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8368" y="4544568"/>
            <a:ext cx="4480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systemd unit uses NoNewPrivileges=yes and PrivateTmp=yes. Script file installed chmod 750, owned root:root.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0" y="1325880"/>
            <a:ext cx="3383280" cy="3566160"/>
          </a:xfrm>
          <a:prstGeom prst="rect">
            <a:avLst/>
          </a:prstGeom>
          <a:solidFill>
            <a:srgbClr val="1725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0" y="1325880"/>
            <a:ext cx="64008" cy="35661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5577840" y="1417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 Security Services</a:t>
            </a:r>
            <a:endParaRPr lang="en-US" sz="160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1901952"/>
            <a:ext cx="256032" cy="256032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5961888" y="18928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Fail2ban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961888" y="21214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SSH brute-force protection</a:t>
            </a:r>
            <a:endParaRPr lang="en-US" sz="900" dirty="0"/>
          </a:p>
        </p:txBody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2377440"/>
            <a:ext cx="256032" cy="256032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5961888" y="23682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UFW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61888" y="25968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Stateful firewall</a:t>
            </a:r>
            <a:endParaRPr lang="en-US" sz="900" dirty="0"/>
          </a:p>
        </p:txBody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2852928"/>
            <a:ext cx="256032" cy="256032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5961888" y="28437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WireGuard</a:t>
            </a:r>
            <a:endParaRPr lang="en-US" sz="1100" dirty="0"/>
          </a:p>
        </p:txBody>
      </p:sp>
      <p:sp>
        <p:nvSpPr>
          <p:cNvPr id="36" name="Text 31"/>
          <p:cNvSpPr/>
          <p:nvPr/>
        </p:nvSpPr>
        <p:spPr>
          <a:xfrm>
            <a:off x="5961888" y="307238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Modern VPN tunnel</a:t>
            </a:r>
            <a:endParaRPr lang="en-US" sz="900" dirty="0"/>
          </a:p>
        </p:txBody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3328416"/>
            <a:ext cx="256032" cy="256032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5961888" y="33192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Tailscale</a:t>
            </a:r>
            <a:endParaRPr lang="en-US" sz="1100" dirty="0"/>
          </a:p>
        </p:txBody>
      </p:sp>
      <p:sp>
        <p:nvSpPr>
          <p:cNvPr id="39" name="Text 33"/>
          <p:cNvSpPr/>
          <p:nvPr/>
        </p:nvSpPr>
        <p:spPr>
          <a:xfrm>
            <a:off x="5961888" y="35478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Zero-config mesh VPN</a:t>
            </a:r>
            <a:endParaRPr lang="en-US" sz="900" dirty="0"/>
          </a:p>
        </p:txBody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0" y="3803904"/>
            <a:ext cx="256032" cy="256032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5961888" y="3794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Vaultwarden</a:t>
            </a:r>
            <a:endParaRPr lang="en-US" sz="1100" dirty="0"/>
          </a:p>
        </p:txBody>
      </p:sp>
      <p:sp>
        <p:nvSpPr>
          <p:cNvPr id="42" name="Text 35"/>
          <p:cNvSpPr/>
          <p:nvPr/>
        </p:nvSpPr>
        <p:spPr>
          <a:xfrm>
            <a:off x="5961888" y="40233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Password manager (Bitwarden compat.)</a:t>
            </a:r>
            <a:endParaRPr lang="en-US" sz="900" dirty="0"/>
          </a:p>
        </p:txBody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3560" y="4279392"/>
            <a:ext cx="256032" cy="256032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5961888" y="42702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CrowdSec</a:t>
            </a:r>
            <a:endParaRPr lang="en-US" sz="1100" dirty="0"/>
          </a:p>
        </p:txBody>
      </p:sp>
      <p:sp>
        <p:nvSpPr>
          <p:cNvPr id="45" name="Text 37"/>
          <p:cNvSpPr/>
          <p:nvPr/>
        </p:nvSpPr>
        <p:spPr>
          <a:xfrm>
            <a:off x="5961888" y="44988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Community threat intelligence IPS</a:t>
            </a:r>
            <a:endParaRPr lang="en-US" sz="900" dirty="0"/>
          </a:p>
        </p:txBody>
      </p:sp>
      <p:sp>
        <p:nvSpPr>
          <p:cNvPr id="46" name="Text 38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6B">
              <a:alpha val="50000"/>
            </a:srgbClr>
          </a:solidFill>
          <a:ln w="12700">
            <a:solidFill>
              <a:srgbClr val="1A2E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2011680" cy="274320"/>
          </a:xfrm>
          <a:prstGeom prst="roundRect">
            <a:avLst>
              <a:gd name="adj" fmla="val 23333"/>
            </a:avLst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MONITORING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 Observability Stack</a:t>
            </a:r>
            <a:endParaRPr lang="en-US" sz="3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188720"/>
          <a:ext cx="420624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4892040" y="1188720"/>
            <a:ext cx="3931920" cy="731520"/>
          </a:xfrm>
          <a:prstGeom prst="rect">
            <a:avLst/>
          </a:prstGeom>
          <a:solidFill>
            <a:srgbClr val="1725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892040" y="1188720"/>
            <a:ext cx="64008" cy="731520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0" y="1243584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Prometheus + Grafana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486400" y="15727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</a:rPr>
              <a:t>Metrics pipeline. Node Exporter auto-installed on port 9100. Import dashboard #1860 for instant host metrics.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892040" y="1993392"/>
            <a:ext cx="3931920" cy="731520"/>
          </a:xfrm>
          <a:prstGeom prst="rect">
            <a:avLst/>
          </a:prstGeom>
          <a:solidFill>
            <a:srgbClr val="1725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892040" y="1993392"/>
            <a:ext cx="64008" cy="73152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176272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486400" y="2048256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Loki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5486400" y="2377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</a:rPr>
              <a:t>Log aggregation at port 3100. Add as Grafana data source to query all logs in Explore view.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4892040" y="2798064"/>
            <a:ext cx="3931920" cy="731520"/>
          </a:xfrm>
          <a:prstGeom prst="rect">
            <a:avLst/>
          </a:prstGeom>
          <a:solidFill>
            <a:srgbClr val="1725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892040" y="2798064"/>
            <a:ext cx="64008" cy="731520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980944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0" y="2852928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Netdata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5486400" y="31821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</a:rPr>
              <a:t>Zero-config real-time monitor at :19999. Shows CPU, RAM, disk I/O, network, and 2000+ metrics.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4892040" y="3602736"/>
            <a:ext cx="3931920" cy="731520"/>
          </a:xfrm>
          <a:prstGeom prst="rect">
            <a:avLst/>
          </a:prstGeom>
          <a:solidFill>
            <a:srgbClr val="1725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892040" y="3602736"/>
            <a:ext cx="64008" cy="73152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3785616"/>
            <a:ext cx="347472" cy="34747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486400" y="3657600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Uptime Kuma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5486400" y="398678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</a:rPr>
              <a:t>Monitor websites, TCP ports, DNS, containers. Alerts via Telegram, Slack, and 90+ channels.</a:t>
            </a:r>
            <a:endParaRPr lang="en-US" sz="950" dirty="0"/>
          </a:p>
        </p:txBody>
      </p:sp>
      <p:sp>
        <p:nvSpPr>
          <p:cNvPr id="27" name="Shape 20"/>
          <p:cNvSpPr/>
          <p:nvPr/>
        </p:nvSpPr>
        <p:spPr>
          <a:xfrm>
            <a:off x="457200" y="4251960"/>
            <a:ext cx="4206240" cy="640080"/>
          </a:xfrm>
          <a:prstGeom prst="rect">
            <a:avLst/>
          </a:prstGeom>
          <a:solidFill>
            <a:srgbClr val="1725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Text 21"/>
          <p:cNvSpPr/>
          <p:nvPr/>
        </p:nvSpPr>
        <p:spPr>
          <a:xfrm>
            <a:off x="594360" y="4315968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CBD5E1"/>
                </a:solidFill>
              </a:rPr>
              <a:t>appy watchdog checks every 5 minutes — auto-restarts any failed service and logs all events to /var/log/appy-daemon.log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2011680" cy="274320"/>
          </a:xfrm>
          <a:prstGeom prst="roundRect">
            <a:avLst>
              <a:gd name="adj" fmla="val 23333"/>
            </a:avLst>
          </a:prstGeom>
          <a:solidFill>
            <a:srgbClr val="0F1F4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CLI INTERFACE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Scriptable Command-Line Interface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Every appy function is accessible as a non-interactive CLI flag — ideal for automation, CI/CD, and remote management.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5120640" cy="32461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27632"/>
            <a:ext cx="5120640" cy="32004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728216"/>
            <a:ext cx="146304" cy="14630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1728216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1051560" y="1728216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16733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bash — appy.sh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02996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bash appy.sh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224942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Interactive TUI (default)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246888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bash appy.sh --install docker nginx immich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4360" y="268833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Install 3 services non-interactively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290779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bash appy.sh --health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94360" y="312724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Full color health report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94360" y="334670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bash appy.sh --update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4360" y="356616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pacman + yay + Docker images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94360" y="378561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bash appy.sh --backup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94360" y="400507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Archive all service configs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94360" y="422452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bash appy.sh --remove nginx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94360" y="444398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Stop, disable, uninstall service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760720" y="162763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Available Flags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760720" y="2029968"/>
            <a:ext cx="3108960" cy="31089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6" name="Text 24"/>
          <p:cNvSpPr/>
          <p:nvPr/>
        </p:nvSpPr>
        <p:spPr>
          <a:xfrm>
            <a:off x="5852160" y="20574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--daemon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269480" y="205740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Run watchdog loop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760720" y="2368296"/>
            <a:ext cx="31089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5852160" y="23957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--health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269480" y="239572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Full health report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760720" y="2706624"/>
            <a:ext cx="3108960" cy="31089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2" name="Text 30"/>
          <p:cNvSpPr/>
          <p:nvPr/>
        </p:nvSpPr>
        <p:spPr>
          <a:xfrm>
            <a:off x="5852160" y="27340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--update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269480" y="273405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Full system update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760720" y="3044952"/>
            <a:ext cx="31089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5852160" y="30723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--status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269480" y="307238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One-line snapshot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760720" y="3383280"/>
            <a:ext cx="3108960" cy="31089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8" name="Text 36"/>
          <p:cNvSpPr/>
          <p:nvPr/>
        </p:nvSpPr>
        <p:spPr>
          <a:xfrm>
            <a:off x="5852160" y="34107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--install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269480" y="341071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Install by key(s)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760720" y="3721608"/>
            <a:ext cx="31089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5852160" y="3749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--remove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269480" y="374904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Remove service(s)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760720" y="4059936"/>
            <a:ext cx="3108960" cy="31089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44" name="Text 42"/>
          <p:cNvSpPr/>
          <p:nvPr/>
        </p:nvSpPr>
        <p:spPr>
          <a:xfrm>
            <a:off x="5852160" y="40873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--backup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269480" y="408736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Archive configs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760720" y="4398264"/>
            <a:ext cx="31089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5852160" y="44256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--logs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269480" y="442569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Last 100 log lines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760720" y="4736592"/>
            <a:ext cx="3108960" cy="31089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50" name="Text 48"/>
          <p:cNvSpPr/>
          <p:nvPr/>
        </p:nvSpPr>
        <p:spPr>
          <a:xfrm>
            <a:off x="5852160" y="47640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--version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269480" y="476402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Print version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760720" y="5074920"/>
            <a:ext cx="31089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5852160" y="51023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--help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7269480" y="510235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Full usage info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6B">
              <a:alpha val="50000"/>
            </a:srgbClr>
          </a:solidFill>
          <a:ln w="12700">
            <a:solidFill>
              <a:srgbClr val="1A2E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2011680" cy="274320"/>
          </a:xfrm>
          <a:prstGeom prst="roundRect">
            <a:avLst>
              <a:gd name="adj" fmla="val 23333"/>
            </a:avLst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UN SUSTAINABLE DEVELOPMENT GOALS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SDG Alignment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2161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BD5E1"/>
                </a:solidFill>
              </a:rPr>
              <a:t>appy.sh directly addresses 6 of the 17 UN Sustainable Development Goals by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BD5E1"/>
                </a:solidFill>
              </a:rPr>
              <a:t>democratizing server infrastructure and protecting digital rights.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93392"/>
            <a:ext cx="2651760" cy="1170432"/>
          </a:xfrm>
          <a:prstGeom prst="rect">
            <a:avLst/>
          </a:prstGeom>
          <a:solidFill>
            <a:srgbClr val="1725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993392"/>
            <a:ext cx="64008" cy="1170432"/>
          </a:xfrm>
          <a:prstGeom prst="rect">
            <a:avLst/>
          </a:prstGeom>
          <a:solidFill>
            <a:srgbClr val="FD6925"/>
          </a:solidFill>
          <a:ln/>
        </p:spPr>
      </p:sp>
      <p:sp>
        <p:nvSpPr>
          <p:cNvPr id="9" name="Shape 7"/>
          <p:cNvSpPr/>
          <p:nvPr/>
        </p:nvSpPr>
        <p:spPr>
          <a:xfrm>
            <a:off x="521208" y="1993392"/>
            <a:ext cx="2651760" cy="310896"/>
          </a:xfrm>
          <a:prstGeom prst="rect">
            <a:avLst/>
          </a:prstGeom>
          <a:solidFill>
            <a:srgbClr val="FD6925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20208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SDG 9</a:t>
            </a:r>
            <a:endParaRPr lang="en-US" sz="12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2450592"/>
            <a:ext cx="411480" cy="4114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24712" y="2404872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Industry, Innovation &amp; Infrastructure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355848" y="1993392"/>
            <a:ext cx="2651760" cy="1170432"/>
          </a:xfrm>
          <a:prstGeom prst="rect">
            <a:avLst/>
          </a:prstGeom>
          <a:solidFill>
            <a:srgbClr val="1725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355848" y="1993392"/>
            <a:ext cx="64008" cy="1170432"/>
          </a:xfrm>
          <a:prstGeom prst="rect">
            <a:avLst/>
          </a:prstGeom>
          <a:solidFill>
            <a:srgbClr val="DD1367"/>
          </a:solidFill>
          <a:ln/>
        </p:spPr>
      </p:sp>
      <p:sp>
        <p:nvSpPr>
          <p:cNvPr id="15" name="Shape 12"/>
          <p:cNvSpPr/>
          <p:nvPr/>
        </p:nvSpPr>
        <p:spPr>
          <a:xfrm>
            <a:off x="3419856" y="1993392"/>
            <a:ext cx="2651760" cy="310896"/>
          </a:xfrm>
          <a:prstGeom prst="rect">
            <a:avLst/>
          </a:prstGeom>
          <a:solidFill>
            <a:srgbClr val="DD1367"/>
          </a:solidFill>
          <a:ln/>
        </p:spPr>
      </p:sp>
      <p:sp>
        <p:nvSpPr>
          <p:cNvPr id="16" name="Text 13"/>
          <p:cNvSpPr/>
          <p:nvPr/>
        </p:nvSpPr>
        <p:spPr>
          <a:xfrm>
            <a:off x="3419856" y="20208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SDG 10</a:t>
            </a:r>
            <a:endParaRPr lang="en-US" sz="12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2450592"/>
            <a:ext cx="411480" cy="4114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023360" y="2404872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Reduced Inequalities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254496" y="1993392"/>
            <a:ext cx="2651760" cy="1170432"/>
          </a:xfrm>
          <a:prstGeom prst="rect">
            <a:avLst/>
          </a:prstGeom>
          <a:solidFill>
            <a:srgbClr val="1725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254496" y="1993392"/>
            <a:ext cx="64008" cy="1170432"/>
          </a:xfrm>
          <a:prstGeom prst="rect">
            <a:avLst/>
          </a:prstGeom>
          <a:solidFill>
            <a:srgbClr val="FD9D24"/>
          </a:solidFill>
          <a:ln/>
        </p:spPr>
      </p:sp>
      <p:sp>
        <p:nvSpPr>
          <p:cNvPr id="21" name="Shape 17"/>
          <p:cNvSpPr/>
          <p:nvPr/>
        </p:nvSpPr>
        <p:spPr>
          <a:xfrm>
            <a:off x="6318504" y="1993392"/>
            <a:ext cx="2651760" cy="310896"/>
          </a:xfrm>
          <a:prstGeom prst="rect">
            <a:avLst/>
          </a:prstGeom>
          <a:solidFill>
            <a:srgbClr val="FD9D24"/>
          </a:solidFill>
          <a:ln/>
        </p:spPr>
      </p:sp>
      <p:sp>
        <p:nvSpPr>
          <p:cNvPr id="22" name="Text 18"/>
          <p:cNvSpPr/>
          <p:nvPr/>
        </p:nvSpPr>
        <p:spPr>
          <a:xfrm>
            <a:off x="6318504" y="20208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SDG 11</a:t>
            </a:r>
            <a:endParaRPr lang="en-US" sz="12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2450592"/>
            <a:ext cx="411480" cy="4114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922008" y="2404872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Sustainable Cities &amp; Communities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57200" y="3401568"/>
            <a:ext cx="2651760" cy="1170432"/>
          </a:xfrm>
          <a:prstGeom prst="rect">
            <a:avLst/>
          </a:prstGeom>
          <a:solidFill>
            <a:srgbClr val="1725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57200" y="3401568"/>
            <a:ext cx="64008" cy="1170432"/>
          </a:xfrm>
          <a:prstGeom prst="rect">
            <a:avLst/>
          </a:prstGeom>
          <a:solidFill>
            <a:srgbClr val="3F7E44"/>
          </a:solidFill>
          <a:ln/>
        </p:spPr>
      </p:sp>
      <p:sp>
        <p:nvSpPr>
          <p:cNvPr id="27" name="Shape 22"/>
          <p:cNvSpPr/>
          <p:nvPr/>
        </p:nvSpPr>
        <p:spPr>
          <a:xfrm>
            <a:off x="521208" y="3401568"/>
            <a:ext cx="2651760" cy="310896"/>
          </a:xfrm>
          <a:prstGeom prst="rect">
            <a:avLst/>
          </a:prstGeom>
          <a:solidFill>
            <a:srgbClr val="3F7E44"/>
          </a:solidFill>
          <a:ln/>
        </p:spPr>
      </p:sp>
      <p:sp>
        <p:nvSpPr>
          <p:cNvPr id="28" name="Text 23"/>
          <p:cNvSpPr/>
          <p:nvPr/>
        </p:nvSpPr>
        <p:spPr>
          <a:xfrm>
            <a:off x="521208" y="3429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SDG 13</a:t>
            </a:r>
            <a:endParaRPr lang="en-US" sz="12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858768"/>
            <a:ext cx="411480" cy="41148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124712" y="381304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Climate Action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3355848" y="3401568"/>
            <a:ext cx="2651760" cy="1170432"/>
          </a:xfrm>
          <a:prstGeom prst="rect">
            <a:avLst/>
          </a:prstGeom>
          <a:solidFill>
            <a:srgbClr val="1725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3355848" y="3401568"/>
            <a:ext cx="64008" cy="1170432"/>
          </a:xfrm>
          <a:prstGeom prst="rect">
            <a:avLst/>
          </a:prstGeom>
          <a:solidFill>
            <a:srgbClr val="00689D"/>
          </a:solidFill>
          <a:ln/>
        </p:spPr>
      </p:sp>
      <p:sp>
        <p:nvSpPr>
          <p:cNvPr id="33" name="Shape 27"/>
          <p:cNvSpPr/>
          <p:nvPr/>
        </p:nvSpPr>
        <p:spPr>
          <a:xfrm>
            <a:off x="3419856" y="3401568"/>
            <a:ext cx="2651760" cy="310896"/>
          </a:xfrm>
          <a:prstGeom prst="rect">
            <a:avLst/>
          </a:prstGeom>
          <a:solidFill>
            <a:srgbClr val="00689D"/>
          </a:solidFill>
          <a:ln/>
        </p:spPr>
      </p:sp>
      <p:sp>
        <p:nvSpPr>
          <p:cNvPr id="34" name="Text 28"/>
          <p:cNvSpPr/>
          <p:nvPr/>
        </p:nvSpPr>
        <p:spPr>
          <a:xfrm>
            <a:off x="3419856" y="3429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SDG 16</a:t>
            </a:r>
            <a:endParaRPr lang="en-US" sz="1200" dirty="0"/>
          </a:p>
        </p:txBody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0440" y="3858768"/>
            <a:ext cx="411480" cy="41148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4023360" y="381304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Peace, Justice &amp; Strong Institutions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6254496" y="3401568"/>
            <a:ext cx="2651760" cy="1170432"/>
          </a:xfrm>
          <a:prstGeom prst="rect">
            <a:avLst/>
          </a:prstGeom>
          <a:solidFill>
            <a:srgbClr val="1725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6254496" y="3401568"/>
            <a:ext cx="64008" cy="1170432"/>
          </a:xfrm>
          <a:prstGeom prst="rect">
            <a:avLst/>
          </a:prstGeom>
          <a:solidFill>
            <a:srgbClr val="19486A"/>
          </a:solidFill>
          <a:ln/>
        </p:spPr>
      </p:sp>
      <p:sp>
        <p:nvSpPr>
          <p:cNvPr id="39" name="Shape 32"/>
          <p:cNvSpPr/>
          <p:nvPr/>
        </p:nvSpPr>
        <p:spPr>
          <a:xfrm>
            <a:off x="6318504" y="3401568"/>
            <a:ext cx="2651760" cy="310896"/>
          </a:xfrm>
          <a:prstGeom prst="rect">
            <a:avLst/>
          </a:prstGeom>
          <a:solidFill>
            <a:srgbClr val="19486A"/>
          </a:solidFill>
          <a:ln/>
        </p:spPr>
      </p:sp>
      <p:sp>
        <p:nvSpPr>
          <p:cNvPr id="40" name="Text 33"/>
          <p:cNvSpPr/>
          <p:nvPr/>
        </p:nvSpPr>
        <p:spPr>
          <a:xfrm>
            <a:off x="6318504" y="3429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SDG 17</a:t>
            </a:r>
            <a:endParaRPr lang="en-US" sz="1200" dirty="0"/>
          </a:p>
        </p:txBody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9088" y="3858768"/>
            <a:ext cx="411480" cy="41148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922008" y="381304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Partnerships for the Goals</a:t>
            </a:r>
            <a:endParaRPr lang="en-US" sz="1100" dirty="0"/>
          </a:p>
        </p:txBody>
      </p:sp>
      <p:sp>
        <p:nvSpPr>
          <p:cNvPr id="43" name="Text 35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80560" cy="514350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480560" cy="457200"/>
          </a:xfrm>
          <a:prstGeom prst="rect">
            <a:avLst/>
          </a:prstGeom>
          <a:solidFill>
            <a:srgbClr val="FD6925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400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SDG 9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6400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62179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FD6925"/>
                </a:solidFill>
              </a:rPr>
              <a:t>Industry, Innovation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FD6925"/>
                </a:solidFill>
              </a:rPr>
              <a:t>&amp; Infrastructure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274320" y="1417320"/>
            <a:ext cx="393192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1417320"/>
            <a:ext cx="64008" cy="1078992"/>
          </a:xfrm>
          <a:prstGeom prst="rect">
            <a:avLst/>
          </a:prstGeom>
          <a:solidFill>
            <a:srgbClr val="FD6925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15087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Resilient Infrastructure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18288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appy.sh enables anyone to run production-grade server infrastructure (databases, web servers, VPNs, monitoring) on commodity hardware — no cloud account needed.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74320" y="2606040"/>
            <a:ext cx="393192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4320" y="2606040"/>
            <a:ext cx="64008" cy="1078992"/>
          </a:xfrm>
          <a:prstGeom prst="rect">
            <a:avLst/>
          </a:prstGeom>
          <a:solidFill>
            <a:srgbClr val="FD6925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26974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Innovation Access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30175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AI services (Ollama, Immich ML), container orchestration (Docker, Portainer), and full observability stacks are one keystroke away for any skill level.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74320" y="3794760"/>
            <a:ext cx="393192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74320" y="3794760"/>
            <a:ext cx="64008" cy="1078992"/>
          </a:xfrm>
          <a:prstGeom prst="rect">
            <a:avLst/>
          </a:prstGeom>
          <a:solidFill>
            <a:srgbClr val="FD6925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38862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Industrial Upgrade Support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420624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SMEs and research labs in developing regions can deploy the same stack as Fortune 500 companies — for free, locally, with full data sovereignty.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663440" y="0"/>
            <a:ext cx="4480560" cy="5143500"/>
          </a:xfrm>
          <a:prstGeom prst="rect">
            <a:avLst/>
          </a:prstGeom>
          <a:solidFill>
            <a:srgbClr val="FDF2F8"/>
          </a:solidFill>
          <a:ln/>
        </p:spPr>
      </p:sp>
      <p:sp>
        <p:nvSpPr>
          <p:cNvPr id="20" name="Shape 17"/>
          <p:cNvSpPr/>
          <p:nvPr/>
        </p:nvSpPr>
        <p:spPr>
          <a:xfrm>
            <a:off x="4663440" y="0"/>
            <a:ext cx="4480560" cy="457200"/>
          </a:xfrm>
          <a:prstGeom prst="rect">
            <a:avLst/>
          </a:prstGeom>
          <a:solidFill>
            <a:srgbClr val="DD1367"/>
          </a:solidFill>
          <a:ln/>
        </p:spPr>
      </p:sp>
      <p:sp>
        <p:nvSpPr>
          <p:cNvPr id="21" name="Text 18"/>
          <p:cNvSpPr/>
          <p:nvPr/>
        </p:nvSpPr>
        <p:spPr>
          <a:xfrm>
            <a:off x="4937760" y="6400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SDG 10</a:t>
            </a:r>
            <a:endParaRPr lang="en-US" sz="18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640080"/>
            <a:ext cx="502920" cy="50292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577840" y="62179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DD1367"/>
                </a:solidFill>
              </a:rPr>
              <a:t>Reduced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DD1367"/>
                </a:solidFill>
              </a:rPr>
              <a:t>Inequalities</a:t>
            </a:r>
            <a:endParaRPr lang="en-US" sz="1700" dirty="0"/>
          </a:p>
        </p:txBody>
      </p:sp>
      <p:sp>
        <p:nvSpPr>
          <p:cNvPr id="24" name="Shape 20"/>
          <p:cNvSpPr/>
          <p:nvPr/>
        </p:nvSpPr>
        <p:spPr>
          <a:xfrm>
            <a:off x="4937760" y="1417320"/>
            <a:ext cx="393192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4937760" y="1417320"/>
            <a:ext cx="64008" cy="1078992"/>
          </a:xfrm>
          <a:prstGeom prst="rect">
            <a:avLst/>
          </a:prstGeom>
          <a:solidFill>
            <a:srgbClr val="DD1367"/>
          </a:solidFill>
          <a:ln/>
        </p:spPr>
      </p:sp>
      <p:sp>
        <p:nvSpPr>
          <p:cNvPr id="26" name="Text 22"/>
          <p:cNvSpPr/>
          <p:nvPr/>
        </p:nvSpPr>
        <p:spPr>
          <a:xfrm>
            <a:off x="5120640" y="15087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Zero-Cost Enterprise Stack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5120640" y="18288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Services like Grafana, Prometheus, and PostgreSQL are enterprise-grade tools. appy.sh makes them accessible to students and individuals at zero monetary cost.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4937760" y="2606040"/>
            <a:ext cx="393192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4937760" y="2606040"/>
            <a:ext cx="64008" cy="1078992"/>
          </a:xfrm>
          <a:prstGeom prst="rect">
            <a:avLst/>
          </a:prstGeom>
          <a:solidFill>
            <a:srgbClr val="DD1367"/>
          </a:solidFill>
          <a:ln/>
        </p:spPr>
      </p:sp>
      <p:sp>
        <p:nvSpPr>
          <p:cNvPr id="30" name="Text 26"/>
          <p:cNvSpPr/>
          <p:nvPr/>
        </p:nvSpPr>
        <p:spPr>
          <a:xfrm>
            <a:off x="5120640" y="26974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Skill Gap Reduction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5120640" y="30175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Beginner-friendly info cards after each install explain what was done, provide next-step commands, and link to docs — reducing the knowledge gap.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4937760" y="3794760"/>
            <a:ext cx="393192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4937760" y="3794760"/>
            <a:ext cx="64008" cy="1078992"/>
          </a:xfrm>
          <a:prstGeom prst="rect">
            <a:avLst/>
          </a:prstGeom>
          <a:solidFill>
            <a:srgbClr val="DD1367"/>
          </a:solidFill>
          <a:ln/>
        </p:spPr>
      </p:sp>
      <p:sp>
        <p:nvSpPr>
          <p:cNvPr id="34" name="Text 30"/>
          <p:cNvSpPr/>
          <p:nvPr/>
        </p:nvSpPr>
        <p:spPr>
          <a:xfrm>
            <a:off x="5120640" y="38862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Digital Inclusion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5120640" y="420624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Self-hosting removes the need for paid cloud subscriptions ($50-500/mo). Even users on slow connections can run full stacks locally.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80560" cy="514350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480560" cy="457200"/>
          </a:xfrm>
          <a:prstGeom prst="rect">
            <a:avLst/>
          </a:prstGeom>
          <a:solidFill>
            <a:srgbClr val="FD9D2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400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SDG 11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6400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62179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FD9D24"/>
                </a:solidFill>
              </a:rPr>
              <a:t>Sustainable Cities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FD9D24"/>
                </a:solidFill>
              </a:rPr>
              <a:t>&amp; Communities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274320" y="1417320"/>
            <a:ext cx="393192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1417320"/>
            <a:ext cx="64008" cy="1078992"/>
          </a:xfrm>
          <a:prstGeom prst="rect">
            <a:avLst/>
          </a:prstGeom>
          <a:solidFill>
            <a:srgbClr val="FD9D24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15087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Local Data Sovereignty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18288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Photos (Immich), files (Samba, Syncthing), and passwords (Vaultwarden) stay on hardware you own and control — in your home or local datacenter.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74320" y="2606040"/>
            <a:ext cx="393192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4320" y="2606040"/>
            <a:ext cx="64008" cy="1078992"/>
          </a:xfrm>
          <a:prstGeom prst="rect">
            <a:avLst/>
          </a:prstGeom>
          <a:solidFill>
            <a:srgbClr val="FD9D24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26974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Network-Level Services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30175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Pi-hole provides community-wide ad blocking for every device on a local network — a shared digital utility for households and small offices.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74320" y="3794760"/>
            <a:ext cx="393192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74320" y="3794760"/>
            <a:ext cx="64008" cy="1078992"/>
          </a:xfrm>
          <a:prstGeom prst="rect">
            <a:avLst/>
          </a:prstGeom>
          <a:solidFill>
            <a:srgbClr val="FD9D24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38862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Reduced External Dependency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420624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Services run on local LANs without internet connectivity requirements. Communities can maintain critical infrastructure even during outages.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663440" y="0"/>
            <a:ext cx="4480560" cy="5143500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20" name="Shape 17"/>
          <p:cNvSpPr/>
          <p:nvPr/>
        </p:nvSpPr>
        <p:spPr>
          <a:xfrm>
            <a:off x="4663440" y="0"/>
            <a:ext cx="4480560" cy="457200"/>
          </a:xfrm>
          <a:prstGeom prst="rect">
            <a:avLst/>
          </a:prstGeom>
          <a:solidFill>
            <a:srgbClr val="3F7E44"/>
          </a:solidFill>
          <a:ln/>
        </p:spPr>
      </p:sp>
      <p:sp>
        <p:nvSpPr>
          <p:cNvPr id="21" name="Text 18"/>
          <p:cNvSpPr/>
          <p:nvPr/>
        </p:nvSpPr>
        <p:spPr>
          <a:xfrm>
            <a:off x="4937760" y="6400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SDG 13</a:t>
            </a:r>
            <a:endParaRPr lang="en-US" sz="18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640080"/>
            <a:ext cx="502920" cy="50292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577840" y="62179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3F7E44"/>
                </a:solidFill>
              </a:rPr>
              <a:t>Climate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3F7E44"/>
                </a:solidFill>
              </a:rPr>
              <a:t>Action</a:t>
            </a:r>
            <a:endParaRPr lang="en-US" sz="1700" dirty="0"/>
          </a:p>
        </p:txBody>
      </p:sp>
      <p:sp>
        <p:nvSpPr>
          <p:cNvPr id="24" name="Shape 20"/>
          <p:cNvSpPr/>
          <p:nvPr/>
        </p:nvSpPr>
        <p:spPr>
          <a:xfrm>
            <a:off x="4937760" y="1417320"/>
            <a:ext cx="393192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4937760" y="1417320"/>
            <a:ext cx="64008" cy="1078992"/>
          </a:xfrm>
          <a:prstGeom prst="rect">
            <a:avLst/>
          </a:prstGeom>
          <a:solidFill>
            <a:srgbClr val="3F7E44"/>
          </a:solidFill>
          <a:ln/>
        </p:spPr>
      </p:sp>
      <p:sp>
        <p:nvSpPr>
          <p:cNvPr id="26" name="Text 22"/>
          <p:cNvSpPr/>
          <p:nvPr/>
        </p:nvSpPr>
        <p:spPr>
          <a:xfrm>
            <a:off x="5120640" y="15087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Local Compute = Lower Carbon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5120640" y="18288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Photos processed by Immich ML and models run by Ollama execute on your CPU/GPU — not in hyperscale cloud data centers that consume massive grid power.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4937760" y="2606040"/>
            <a:ext cx="393192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4937760" y="2606040"/>
            <a:ext cx="64008" cy="1078992"/>
          </a:xfrm>
          <a:prstGeom prst="rect">
            <a:avLst/>
          </a:prstGeom>
          <a:solidFill>
            <a:srgbClr val="3F7E44"/>
          </a:solidFill>
          <a:ln/>
        </p:spPr>
      </p:sp>
      <p:sp>
        <p:nvSpPr>
          <p:cNvPr id="30" name="Text 26"/>
          <p:cNvSpPr/>
          <p:nvPr/>
        </p:nvSpPr>
        <p:spPr>
          <a:xfrm>
            <a:off x="5120640" y="26974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Reduced Round-Trip Emissions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5120640" y="30175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Files synced via Syncthing between local devices never leave the LAN — no intercontinental data packets, no CDN energy overhead.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4937760" y="3794760"/>
            <a:ext cx="393192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4937760" y="3794760"/>
            <a:ext cx="64008" cy="1078992"/>
          </a:xfrm>
          <a:prstGeom prst="rect">
            <a:avLst/>
          </a:prstGeom>
          <a:solidFill>
            <a:srgbClr val="3F7E44"/>
          </a:solidFill>
          <a:ln/>
        </p:spPr>
      </p:sp>
      <p:sp>
        <p:nvSpPr>
          <p:cNvPr id="34" name="Text 30"/>
          <p:cNvSpPr/>
          <p:nvPr/>
        </p:nvSpPr>
        <p:spPr>
          <a:xfrm>
            <a:off x="5120640" y="38862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Efficient Resource Scheduling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5120640" y="420624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Auto-update runs at 3 AM when grid demand is low. Restic incremental backups minimize redundant data transmission vs full cloud sync models.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80560" cy="51435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480560" cy="457200"/>
          </a:xfrm>
          <a:prstGeom prst="rect">
            <a:avLst/>
          </a:prstGeom>
          <a:solidFill>
            <a:srgbClr val="00689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400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SDG 16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6400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62179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00689D"/>
                </a:solidFill>
              </a:rPr>
              <a:t>Peace, Justice &amp;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00689D"/>
                </a:solidFill>
              </a:rPr>
              <a:t>Strong Institutions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274320" y="1417320"/>
            <a:ext cx="393192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1417320"/>
            <a:ext cx="64008" cy="1078992"/>
          </a:xfrm>
          <a:prstGeom prst="rect">
            <a:avLst/>
          </a:prstGeom>
          <a:solidFill>
            <a:srgbClr val="00689D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15087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Privacy as a Right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18288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Vaultwarden keeps passwords off third-party servers. Immich keeps photos off Google and Apple. appy enables exercise of the right to privacy at home.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74320" y="2606040"/>
            <a:ext cx="393192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4320" y="2606040"/>
            <a:ext cx="64008" cy="1078992"/>
          </a:xfrm>
          <a:prstGeom prst="rect">
            <a:avLst/>
          </a:prstGeom>
          <a:solidFill>
            <a:srgbClr val="00689D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26974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Anti-Surveillance Design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30175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No telemetry, no cloud analytics, no account required. appy.sh is a pure local tool — there is no data collected from the user or their services.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74320" y="3794760"/>
            <a:ext cx="393192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74320" y="3794760"/>
            <a:ext cx="64008" cy="1078992"/>
          </a:xfrm>
          <a:prstGeom prst="rect">
            <a:avLst/>
          </a:prstGeom>
          <a:solidFill>
            <a:srgbClr val="00689D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38862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Resilient Access to Justice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420624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WireGuard and Tailscale allow journalists, activists, and civil society organizations to communicate securely without depending on corporate VPN providers.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663440" y="0"/>
            <a:ext cx="4480560" cy="514350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20" name="Shape 17"/>
          <p:cNvSpPr/>
          <p:nvPr/>
        </p:nvSpPr>
        <p:spPr>
          <a:xfrm>
            <a:off x="4663440" y="0"/>
            <a:ext cx="4480560" cy="457200"/>
          </a:xfrm>
          <a:prstGeom prst="rect">
            <a:avLst/>
          </a:prstGeom>
          <a:solidFill>
            <a:srgbClr val="19486A"/>
          </a:solidFill>
          <a:ln/>
        </p:spPr>
      </p:sp>
      <p:sp>
        <p:nvSpPr>
          <p:cNvPr id="21" name="Text 18"/>
          <p:cNvSpPr/>
          <p:nvPr/>
        </p:nvSpPr>
        <p:spPr>
          <a:xfrm>
            <a:off x="4937760" y="6400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SDG 17</a:t>
            </a:r>
            <a:endParaRPr lang="en-US" sz="18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640080"/>
            <a:ext cx="502920" cy="50292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577840" y="62179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9486A"/>
                </a:solidFill>
              </a:rPr>
              <a:t>Partnerships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9486A"/>
                </a:solidFill>
              </a:rPr>
              <a:t>for the Goals</a:t>
            </a:r>
            <a:endParaRPr lang="en-US" sz="1700" dirty="0"/>
          </a:p>
        </p:txBody>
      </p:sp>
      <p:sp>
        <p:nvSpPr>
          <p:cNvPr id="24" name="Shape 20"/>
          <p:cNvSpPr/>
          <p:nvPr/>
        </p:nvSpPr>
        <p:spPr>
          <a:xfrm>
            <a:off x="4937760" y="1417320"/>
            <a:ext cx="393192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4937760" y="1417320"/>
            <a:ext cx="64008" cy="1078992"/>
          </a:xfrm>
          <a:prstGeom prst="rect">
            <a:avLst/>
          </a:prstGeom>
          <a:solidFill>
            <a:srgbClr val="19486A"/>
          </a:solidFill>
          <a:ln/>
        </p:spPr>
      </p:sp>
      <p:sp>
        <p:nvSpPr>
          <p:cNvPr id="26" name="Text 22"/>
          <p:cNvSpPr/>
          <p:nvPr/>
        </p:nvSpPr>
        <p:spPr>
          <a:xfrm>
            <a:off x="5120640" y="15087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Open Source &amp; MIT License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5120640" y="18288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appy.sh is fully open source under MIT — anyone can fork, extend, and redistribute. The model promotes collaborative development across borders.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4937760" y="2606040"/>
            <a:ext cx="393192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4937760" y="2606040"/>
            <a:ext cx="64008" cy="1078992"/>
          </a:xfrm>
          <a:prstGeom prst="rect">
            <a:avLst/>
          </a:prstGeom>
          <a:solidFill>
            <a:srgbClr val="19486A"/>
          </a:solidFill>
          <a:ln/>
        </p:spPr>
      </p:sp>
      <p:sp>
        <p:nvSpPr>
          <p:cNvPr id="30" name="Text 26"/>
          <p:cNvSpPr/>
          <p:nvPr/>
        </p:nvSpPr>
        <p:spPr>
          <a:xfrm>
            <a:off x="5120640" y="26974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Upstream Project Leverage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5120640" y="30175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appy.sh acts as a multiplier for 20+ open-source projects (Docker, Grafana, Jellyfin, etc.) — increasing their reach without duplicating their work.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4937760" y="3794760"/>
            <a:ext cx="393192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4937760" y="3794760"/>
            <a:ext cx="64008" cy="1078992"/>
          </a:xfrm>
          <a:prstGeom prst="rect">
            <a:avLst/>
          </a:prstGeom>
          <a:solidFill>
            <a:srgbClr val="19486A"/>
          </a:solidFill>
          <a:ln/>
        </p:spPr>
      </p:sp>
      <p:sp>
        <p:nvSpPr>
          <p:cNvPr id="34" name="Text 30"/>
          <p:cNvSpPr/>
          <p:nvPr/>
        </p:nvSpPr>
        <p:spPr>
          <a:xfrm>
            <a:off x="5120640" y="38862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Knowledge Transfer Tool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5120640" y="420624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Info cards after every install include docs links, command examples, and next steps — transferring operational knowledge globally for free.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6B">
              <a:alpha val="50000"/>
            </a:srgbClr>
          </a:solidFill>
          <a:ln w="12700">
            <a:solidFill>
              <a:srgbClr val="1A2E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2011680" cy="274320"/>
          </a:xfrm>
          <a:prstGeom prst="roundRect">
            <a:avLst>
              <a:gd name="adj" fmla="val 23333"/>
            </a:avLst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ROADMAP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Future Development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651760" cy="3383280"/>
          </a:xfrm>
          <a:prstGeom prst="rect">
            <a:avLst/>
          </a:prstGeom>
          <a:solidFill>
            <a:srgbClr val="1725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25880"/>
            <a:ext cx="64008" cy="33832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325880"/>
            <a:ext cx="2651760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3716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v3.1 ✓</a:t>
            </a:r>
            <a:endParaRPr lang="en-US" sz="16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28800"/>
            <a:ext cx="256032" cy="2560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14400" y="184708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BD5E1"/>
                </a:solidFill>
              </a:rPr>
              <a:t>Official Immich quickstart</a:t>
            </a:r>
            <a:endParaRPr lang="en-US" sz="10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377440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14400" y="239572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BD5E1"/>
                </a:solidFill>
              </a:rPr>
              <a:t>docker compose plugin support</a:t>
            </a:r>
            <a:endParaRPr lang="en-US" sz="10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926080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14400" y="294436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BD5E1"/>
                </a:solidFill>
              </a:rPr>
              <a:t>Port-wait verification</a:t>
            </a:r>
            <a:endParaRPr lang="en-US" sz="10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474720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14400" y="349300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BD5E1"/>
                </a:solidFill>
              </a:rPr>
              <a:t>Autostart manager (M→14)</a:t>
            </a:r>
            <a:endParaRPr lang="en-US" sz="10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023360"/>
            <a:ext cx="256032" cy="25603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14400" y="404164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BD5E1"/>
                </a:solidFill>
              </a:rPr>
              <a:t>curl-service detection fix</a:t>
            </a:r>
            <a:endParaRPr lang="en-US" sz="1050" dirty="0"/>
          </a:p>
        </p:txBody>
      </p:sp>
      <p:sp>
        <p:nvSpPr>
          <p:cNvPr id="20" name="Shape 13"/>
          <p:cNvSpPr/>
          <p:nvPr/>
        </p:nvSpPr>
        <p:spPr>
          <a:xfrm>
            <a:off x="3355848" y="1325880"/>
            <a:ext cx="2651760" cy="3383280"/>
          </a:xfrm>
          <a:prstGeom prst="rect">
            <a:avLst/>
          </a:prstGeom>
          <a:solidFill>
            <a:srgbClr val="1725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3355848" y="1325880"/>
            <a:ext cx="64008" cy="33832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2" name="Shape 15"/>
          <p:cNvSpPr/>
          <p:nvPr/>
        </p:nvSpPr>
        <p:spPr>
          <a:xfrm>
            <a:off x="3355848" y="1325880"/>
            <a:ext cx="2651760" cy="4114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3" name="Text 16"/>
          <p:cNvSpPr/>
          <p:nvPr/>
        </p:nvSpPr>
        <p:spPr>
          <a:xfrm>
            <a:off x="3355848" y="13716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v3.2</a:t>
            </a:r>
            <a:endParaRPr lang="en-US" sz="16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93008" y="1828800"/>
            <a:ext cx="256032" cy="25603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3813048" y="184708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BD5E1"/>
                </a:solidFill>
              </a:rPr>
              <a:t>Web dashboard (read-only)</a:t>
            </a:r>
            <a:endParaRPr lang="en-US" sz="105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93008" y="2377440"/>
            <a:ext cx="256032" cy="256032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3813048" y="239572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BD5E1"/>
                </a:solidFill>
              </a:rPr>
              <a:t>Multi-server SSH remote install</a:t>
            </a:r>
            <a:endParaRPr lang="en-US" sz="105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93008" y="2926080"/>
            <a:ext cx="256032" cy="256032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3813048" y="294436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BD5E1"/>
                </a:solidFill>
              </a:rPr>
              <a:t>Telegram alert integration</a:t>
            </a:r>
            <a:endParaRPr lang="en-US" sz="1050" dirty="0"/>
          </a:p>
        </p:txBody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93008" y="3474720"/>
            <a:ext cx="256032" cy="256032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3813048" y="349300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BD5E1"/>
                </a:solidFill>
              </a:rPr>
              <a:t>Interactive service dependency graph</a:t>
            </a:r>
            <a:endParaRPr lang="en-US" sz="1050" dirty="0"/>
          </a:p>
        </p:txBody>
      </p:sp>
      <p:sp>
        <p:nvSpPr>
          <p:cNvPr id="32" name="Shape 21"/>
          <p:cNvSpPr/>
          <p:nvPr/>
        </p:nvSpPr>
        <p:spPr>
          <a:xfrm>
            <a:off x="6254496" y="1325880"/>
            <a:ext cx="2651760" cy="3383280"/>
          </a:xfrm>
          <a:prstGeom prst="rect">
            <a:avLst/>
          </a:prstGeom>
          <a:solidFill>
            <a:srgbClr val="1725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22"/>
          <p:cNvSpPr/>
          <p:nvPr/>
        </p:nvSpPr>
        <p:spPr>
          <a:xfrm>
            <a:off x="6254496" y="1325880"/>
            <a:ext cx="64008" cy="3383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Shape 23"/>
          <p:cNvSpPr/>
          <p:nvPr/>
        </p:nvSpPr>
        <p:spPr>
          <a:xfrm>
            <a:off x="6254496" y="1325880"/>
            <a:ext cx="265176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5" name="Text 24"/>
          <p:cNvSpPr/>
          <p:nvPr/>
        </p:nvSpPr>
        <p:spPr>
          <a:xfrm>
            <a:off x="6254496" y="13716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v4.0</a:t>
            </a:r>
            <a:endParaRPr lang="en-US" sz="1600" dirty="0"/>
          </a:p>
        </p:txBody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91656" y="1828800"/>
            <a:ext cx="256032" cy="256032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6711696" y="184708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BD5E1"/>
                </a:solidFill>
              </a:rPr>
              <a:t>Distro-agnostic mode (apt/dnf)</a:t>
            </a:r>
            <a:endParaRPr lang="en-US" sz="1050" dirty="0"/>
          </a:p>
        </p:txBody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91656" y="2377440"/>
            <a:ext cx="256032" cy="256032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6711696" y="239572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BD5E1"/>
                </a:solidFill>
              </a:rPr>
              <a:t>ARM64 / Raspberry Pi support</a:t>
            </a:r>
            <a:endParaRPr lang="en-US" sz="1050" dirty="0"/>
          </a:p>
        </p:txBody>
      </p:sp>
      <p:pic>
        <p:nvPicPr>
          <p:cNvPr id="4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91656" y="2926080"/>
            <a:ext cx="256032" cy="256032"/>
          </a:xfrm>
          <a:prstGeom prst="rect">
            <a:avLst/>
          </a:prstGeom>
        </p:spPr>
      </p:pic>
      <p:sp>
        <p:nvSpPr>
          <p:cNvPr id="41" name="Text 27"/>
          <p:cNvSpPr/>
          <p:nvPr/>
        </p:nvSpPr>
        <p:spPr>
          <a:xfrm>
            <a:off x="6711696" y="294436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BD5E1"/>
                </a:solidFill>
              </a:rPr>
              <a:t>Container update notifications</a:t>
            </a:r>
            <a:endParaRPr lang="en-US" sz="1050" dirty="0"/>
          </a:p>
        </p:txBody>
      </p:sp>
      <p:pic>
        <p:nvPicPr>
          <p:cNvPr id="4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91656" y="3474720"/>
            <a:ext cx="256032" cy="256032"/>
          </a:xfrm>
          <a:prstGeom prst="rect">
            <a:avLst/>
          </a:prstGeom>
        </p:spPr>
      </p:pic>
      <p:sp>
        <p:nvSpPr>
          <p:cNvPr id="43" name="Text 28"/>
          <p:cNvSpPr/>
          <p:nvPr/>
        </p:nvSpPr>
        <p:spPr>
          <a:xfrm>
            <a:off x="6711696" y="349300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BD5E1"/>
                </a:solidFill>
              </a:rPr>
              <a:t>TUI plugin system for community services</a:t>
            </a:r>
            <a:endParaRPr lang="en-US" sz="1050" dirty="0"/>
          </a:p>
        </p:txBody>
      </p:sp>
      <p:sp>
        <p:nvSpPr>
          <p:cNvPr id="44" name="Shape 29"/>
          <p:cNvSpPr/>
          <p:nvPr/>
        </p:nvSpPr>
        <p:spPr>
          <a:xfrm>
            <a:off x="457200" y="4736592"/>
            <a:ext cx="8229600" cy="256032"/>
          </a:xfrm>
          <a:prstGeom prst="rect">
            <a:avLst/>
          </a:prstGeom>
          <a:solidFill>
            <a:srgbClr val="172554"/>
          </a:solidFill>
          <a:ln/>
        </p:spPr>
      </p:sp>
      <p:sp>
        <p:nvSpPr>
          <p:cNvPr id="45" name="Text 30"/>
          <p:cNvSpPr/>
          <p:nvPr/>
        </p:nvSpPr>
        <p:spPr>
          <a:xfrm>
            <a:off x="457200" y="4754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6B6D4"/>
                </a:solidFill>
              </a:rPr>
              <a:t>"The goal is to make self-hosting as simple as choosing from a menu."</a:t>
            </a:r>
            <a:endParaRPr lang="en-US" sz="1050" dirty="0"/>
          </a:p>
        </p:txBody>
      </p:sp>
      <p:sp>
        <p:nvSpPr>
          <p:cNvPr id="46" name="Text 31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6B">
              <a:alpha val="50000"/>
            </a:srgbClr>
          </a:solidFill>
          <a:ln w="12700">
            <a:solidFill>
              <a:srgbClr val="1A2E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A2E6B"/>
          </a:solidFill>
          <a:ln/>
        </p:spPr>
      </p:sp>
      <p:sp>
        <p:nvSpPr>
          <p:cNvPr id="4" name="Shape 2"/>
          <p:cNvSpPr/>
          <p:nvPr/>
        </p:nvSpPr>
        <p:spPr>
          <a:xfrm>
            <a:off x="6217920" y="0"/>
            <a:ext cx="54864" cy="51435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6492240" y="502920"/>
            <a:ext cx="822960" cy="822960"/>
          </a:xfrm>
          <a:prstGeom prst="ellipse">
            <a:avLst/>
          </a:prstGeom>
          <a:solidFill>
            <a:srgbClr val="1725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56832" y="667512"/>
            <a:ext cx="50292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80960" y="502920"/>
            <a:ext cx="822960" cy="822960"/>
          </a:xfrm>
          <a:prstGeom prst="ellipse">
            <a:avLst/>
          </a:prstGeom>
          <a:solidFill>
            <a:srgbClr val="1725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5552" y="667512"/>
            <a:ext cx="502920" cy="5029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92240" y="1965960"/>
            <a:ext cx="822960" cy="822960"/>
          </a:xfrm>
          <a:prstGeom prst="ellipse">
            <a:avLst/>
          </a:prstGeom>
          <a:solidFill>
            <a:srgbClr val="1725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32" y="2130552"/>
            <a:ext cx="502920" cy="50292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7680960" y="1965960"/>
            <a:ext cx="822960" cy="822960"/>
          </a:xfrm>
          <a:prstGeom prst="ellipse">
            <a:avLst/>
          </a:prstGeom>
          <a:solidFill>
            <a:srgbClr val="1725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2130552"/>
            <a:ext cx="502920" cy="50292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6492240" y="3429000"/>
            <a:ext cx="822960" cy="822960"/>
          </a:xfrm>
          <a:prstGeom prst="ellipse">
            <a:avLst/>
          </a:prstGeom>
          <a:solidFill>
            <a:srgbClr val="1725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6832" y="3593592"/>
            <a:ext cx="502920" cy="502920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7680960" y="3429000"/>
            <a:ext cx="822960" cy="822960"/>
          </a:xfrm>
          <a:prstGeom prst="ellipse">
            <a:avLst/>
          </a:prstGeom>
          <a:solidFill>
            <a:srgbClr val="17255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5552" y="3593592"/>
            <a:ext cx="502920" cy="502920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457200" y="274320"/>
            <a:ext cx="2011680" cy="274320"/>
          </a:xfrm>
          <a:prstGeom prst="roundRect">
            <a:avLst>
              <a:gd name="adj" fmla="val 23333"/>
            </a:avLst>
          </a:prstGeom>
          <a:solidFill>
            <a:srgbClr val="06B6D4"/>
          </a:solidFill>
          <a:ln/>
        </p:spPr>
      </p:sp>
      <p:sp>
        <p:nvSpPr>
          <p:cNvPr id="18" name="Text 10"/>
          <p:cNvSpPr/>
          <p:nvPr/>
        </p:nvSpPr>
        <p:spPr>
          <a:xfrm>
            <a:off x="457200" y="274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CONCLUSION</a:t>
            </a:r>
            <a:endParaRPr lang="en-US" sz="1000" dirty="0"/>
          </a:p>
        </p:txBody>
      </p:sp>
      <p:sp>
        <p:nvSpPr>
          <p:cNvPr id="19" name="Text 11"/>
          <p:cNvSpPr/>
          <p:nvPr/>
        </p:nvSpPr>
        <p:spPr>
          <a:xfrm>
            <a:off x="457200" y="640080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appy.sh</a:t>
            </a:r>
            <a:endParaRPr lang="en-US" sz="60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1645920"/>
            <a:ext cx="320040" cy="32004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914400" y="16642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One script. 39 services. Zero cloud dependency.</a:t>
            </a:r>
            <a:endParaRPr lang="en-US" sz="140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2304288"/>
            <a:ext cx="320040" cy="32004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914400" y="232257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Advancing 6 UN SDGs through open infrastructure.</a:t>
            </a:r>
            <a:endParaRPr lang="en-US" sz="140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2962656"/>
            <a:ext cx="320040" cy="32004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914400" y="298094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MIT licensed — free for everyone, everywhere.</a:t>
            </a:r>
            <a:endParaRPr lang="en-US" sz="1400" dirty="0"/>
          </a:p>
        </p:txBody>
      </p:sp>
      <p:sp>
        <p:nvSpPr>
          <p:cNvPr id="26" name="Shape 15"/>
          <p:cNvSpPr/>
          <p:nvPr/>
        </p:nvSpPr>
        <p:spPr>
          <a:xfrm>
            <a:off x="457200" y="3703320"/>
            <a:ext cx="658368" cy="658368"/>
          </a:xfrm>
          <a:prstGeom prst="ellipse">
            <a:avLst/>
          </a:prstGeom>
          <a:solidFill>
            <a:srgbClr val="FD6925"/>
          </a:solidFill>
          <a:ln/>
        </p:spPr>
      </p:sp>
      <p:sp>
        <p:nvSpPr>
          <p:cNvPr id="27" name="Text 16"/>
          <p:cNvSpPr/>
          <p:nvPr/>
        </p:nvSpPr>
        <p:spPr>
          <a:xfrm>
            <a:off x="457200" y="3730752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SDG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9</a:t>
            </a:r>
            <a:endParaRPr lang="en-US" sz="900" dirty="0"/>
          </a:p>
        </p:txBody>
      </p:sp>
      <p:sp>
        <p:nvSpPr>
          <p:cNvPr id="28" name="Shape 17"/>
          <p:cNvSpPr/>
          <p:nvPr/>
        </p:nvSpPr>
        <p:spPr>
          <a:xfrm>
            <a:off x="1307592" y="3703320"/>
            <a:ext cx="658368" cy="658368"/>
          </a:xfrm>
          <a:prstGeom prst="ellipse">
            <a:avLst/>
          </a:prstGeom>
          <a:solidFill>
            <a:srgbClr val="DD1367"/>
          </a:solidFill>
          <a:ln/>
        </p:spPr>
      </p:sp>
      <p:sp>
        <p:nvSpPr>
          <p:cNvPr id="29" name="Text 18"/>
          <p:cNvSpPr/>
          <p:nvPr/>
        </p:nvSpPr>
        <p:spPr>
          <a:xfrm>
            <a:off x="1307592" y="3730752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SDG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10</a:t>
            </a:r>
            <a:endParaRPr lang="en-US" sz="900" dirty="0"/>
          </a:p>
        </p:txBody>
      </p:sp>
      <p:sp>
        <p:nvSpPr>
          <p:cNvPr id="30" name="Shape 19"/>
          <p:cNvSpPr/>
          <p:nvPr/>
        </p:nvSpPr>
        <p:spPr>
          <a:xfrm>
            <a:off x="2157984" y="3703320"/>
            <a:ext cx="658368" cy="658368"/>
          </a:xfrm>
          <a:prstGeom prst="ellipse">
            <a:avLst/>
          </a:prstGeom>
          <a:solidFill>
            <a:srgbClr val="FD9D24"/>
          </a:solidFill>
          <a:ln/>
        </p:spPr>
      </p:sp>
      <p:sp>
        <p:nvSpPr>
          <p:cNvPr id="31" name="Text 20"/>
          <p:cNvSpPr/>
          <p:nvPr/>
        </p:nvSpPr>
        <p:spPr>
          <a:xfrm>
            <a:off x="2157984" y="3730752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SDG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11</a:t>
            </a:r>
            <a:endParaRPr lang="en-US" sz="900" dirty="0"/>
          </a:p>
        </p:txBody>
      </p:sp>
      <p:sp>
        <p:nvSpPr>
          <p:cNvPr id="32" name="Shape 21"/>
          <p:cNvSpPr/>
          <p:nvPr/>
        </p:nvSpPr>
        <p:spPr>
          <a:xfrm>
            <a:off x="3008376" y="3703320"/>
            <a:ext cx="658368" cy="658368"/>
          </a:xfrm>
          <a:prstGeom prst="ellipse">
            <a:avLst/>
          </a:prstGeom>
          <a:solidFill>
            <a:srgbClr val="3F7E44"/>
          </a:solidFill>
          <a:ln/>
        </p:spPr>
      </p:sp>
      <p:sp>
        <p:nvSpPr>
          <p:cNvPr id="33" name="Text 22"/>
          <p:cNvSpPr/>
          <p:nvPr/>
        </p:nvSpPr>
        <p:spPr>
          <a:xfrm>
            <a:off x="3008376" y="3730752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SDG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13</a:t>
            </a:r>
            <a:endParaRPr lang="en-US" sz="900" dirty="0"/>
          </a:p>
        </p:txBody>
      </p:sp>
      <p:sp>
        <p:nvSpPr>
          <p:cNvPr id="34" name="Shape 23"/>
          <p:cNvSpPr/>
          <p:nvPr/>
        </p:nvSpPr>
        <p:spPr>
          <a:xfrm>
            <a:off x="3858768" y="3703320"/>
            <a:ext cx="658368" cy="658368"/>
          </a:xfrm>
          <a:prstGeom prst="ellipse">
            <a:avLst/>
          </a:prstGeom>
          <a:solidFill>
            <a:srgbClr val="00689D"/>
          </a:solidFill>
          <a:ln/>
        </p:spPr>
      </p:sp>
      <p:sp>
        <p:nvSpPr>
          <p:cNvPr id="35" name="Text 24"/>
          <p:cNvSpPr/>
          <p:nvPr/>
        </p:nvSpPr>
        <p:spPr>
          <a:xfrm>
            <a:off x="3858768" y="3730752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SDG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16</a:t>
            </a:r>
            <a:endParaRPr lang="en-US" sz="900" dirty="0"/>
          </a:p>
        </p:txBody>
      </p:sp>
      <p:sp>
        <p:nvSpPr>
          <p:cNvPr id="36" name="Shape 25"/>
          <p:cNvSpPr/>
          <p:nvPr/>
        </p:nvSpPr>
        <p:spPr>
          <a:xfrm>
            <a:off x="4709160" y="3703320"/>
            <a:ext cx="658368" cy="658368"/>
          </a:xfrm>
          <a:prstGeom prst="ellipse">
            <a:avLst/>
          </a:prstGeom>
          <a:solidFill>
            <a:srgbClr val="19486A"/>
          </a:solidFill>
          <a:ln/>
        </p:spPr>
      </p:sp>
      <p:sp>
        <p:nvSpPr>
          <p:cNvPr id="37" name="Text 26"/>
          <p:cNvSpPr/>
          <p:nvPr/>
        </p:nvSpPr>
        <p:spPr>
          <a:xfrm>
            <a:off x="4709160" y="3730752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SDG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17</a:t>
            </a:r>
            <a:endParaRPr lang="en-US" sz="900" dirty="0"/>
          </a:p>
        </p:txBody>
      </p:sp>
      <p:sp>
        <p:nvSpPr>
          <p:cNvPr id="38" name="Text 27"/>
          <p:cNvSpPr/>
          <p:nvPr/>
        </p:nvSpPr>
        <p:spPr>
          <a:xfrm>
            <a:off x="457200" y="466344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github.com/malhiamitojsingh/appy  •  appy.malhiamitojsingh.workers.dev  •  MIT License</a:t>
            </a:r>
            <a:endParaRPr lang="en-US" sz="950" dirty="0"/>
          </a:p>
        </p:txBody>
      </p:sp>
      <p:sp>
        <p:nvSpPr>
          <p:cNvPr id="39" name="Text 28"/>
          <p:cNvSpPr/>
          <p:nvPr/>
        </p:nvSpPr>
        <p:spPr>
          <a:xfrm>
            <a:off x="457200" y="440740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</a:rPr>
              <a:t>Thank You — 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appy.sh — Service Installer &amp; System Manager</dc:title>
  <dc:subject>PptxGenJS Presentation</dc:subject>
  <dc:creator>appy.sh Project</dc:creator>
  <cp:lastModifiedBy>appy.sh Project</cp:lastModifiedBy>
  <cp:revision>1</cp:revision>
  <dcterms:created xsi:type="dcterms:W3CDTF">2026-04-08T01:19:51Z</dcterms:created>
  <dcterms:modified xsi:type="dcterms:W3CDTF">2026-04-08T01:19:51Z</dcterms:modified>
</cp:coreProperties>
</file>